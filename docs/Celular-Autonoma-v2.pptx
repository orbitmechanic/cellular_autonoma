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E43D632-954D-469A-8090-091063691D5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E67A379-45D7-4DB3-BCE1-BA4EB44227D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374DBBA-C5B2-4B9F-A42B-9F980087C2E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14203A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540000" y="1512000"/>
            <a:ext cx="9000000" cy="90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52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CELULAR  AUTONOMA  v2</a:t>
            </a:r>
            <a:endParaRPr lang="en-US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58000" y="2484000"/>
            <a:ext cx="9000000" cy="54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2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Self-replicating smart-contract cells that pay for themselves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558000" y="3096000"/>
            <a:ext cx="9000000" cy="108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555F6E"/>
                </a:solidFill>
                <a:effectLst/>
                <a:uFillTx/>
                <a:latin typeface="DejaVu Sans"/>
              </a:rPr>
              <a:t>Findings, proposal, exploratory tests &amp; results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555F6E"/>
                </a:solidFill>
                <a:effectLst/>
                <a:uFillTx/>
                <a:latin typeface="DejaVu Sans"/>
              </a:rPr>
              <a:t>from orbitmechanic/cellular_autonoma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555F6E"/>
                </a:solidFill>
                <a:effectLst/>
                <a:uFillTx/>
                <a:latin typeface="DejaVu Sans"/>
              </a:rPr>
              <a:t>Analysis + v2 reference implementation  -  2026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58000" y="4896000"/>
            <a:ext cx="900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2E8B57"/>
                </a:solidFill>
                <a:effectLst/>
                <a:uFillTx/>
                <a:latin typeface="DejaVu Sans"/>
              </a:rPr>
              <a:t>39 passing tests  -  6 issues (#12-#17)  -  PR #18 (+2024 / -263)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14203A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540000" y="324000"/>
            <a:ext cx="900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36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The brief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540000" y="1080000"/>
            <a:ext cx="9000000" cy="39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Build a life-like 'cell' in Solidity: an address-linked collection of organelles on an EVM chain.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Nucleus holds identity + linked modules; Chloroplast stores energy (= capital); and so on.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Goal: a contract colony that self-replicates with NO human intervention.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It must find its own 'gas' for memory + processing once launched.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It must be capital-harvestable by the colony root deployer - 'or why bother?'.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v1 stalled on gas costs and gaps that needed better code. Can we do better?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14203A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540000" y="324000"/>
            <a:ext cx="900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34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The hard constraint (why v1 stalled)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540000" y="1044000"/>
            <a:ext cx="9000000" cy="57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On the EVM, a contract can NEVER send its own transaction. Only an external account (or smart-account relayer) pays gas and initiates.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540000" y="1800000"/>
            <a:ext cx="4320000" cy="288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2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Three ways to relax it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540000" y="2124000"/>
            <a:ext cx="4500000" cy="288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1. Cheap chain: L2 / near-free so a division costs cents, not dollars.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2. Keeper economics: the cell pays whoever triggers it, from capital it earned.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3. ERC-4337 paymasters: a bundler pays gas, cell settles in tokens.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5328000" y="1800000"/>
            <a:ext cx="4212000" cy="3096000"/>
          </a:xfrm>
          <a:prstGeom prst="rect">
            <a:avLst/>
          </a:prstGeom>
          <a:solidFill>
            <a:srgbClr val="1E2C47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5436000" y="1872000"/>
            <a:ext cx="3996000" cy="93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000" b="0" u="none" strike="noStrike">
                <a:solidFill>
                  <a:srgbClr val="C0392B"/>
                </a:solidFill>
                <a:effectLst/>
                <a:uFillTx/>
                <a:latin typeface="DejaVu Sans"/>
              </a:rPr>
              <a:t>v1 did none of these fully.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436000" y="2232000"/>
            <a:ext cx="3996000" cy="237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L1 division cost (measured):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v1 ~$82    v2 ~$49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So the loop could never pay its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own gas and the colony starved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in the first few generations.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14203A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540000" y="216000"/>
            <a:ext cx="9180000" cy="43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34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Findings: six verified v1 failures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40000" y="684000"/>
            <a:ext cx="9180000" cy="25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555F6E"/>
                </a:solidFill>
                <a:effectLst/>
                <a:uFillTx/>
                <a:latin typeface="DejaVu Sans"/>
              </a:rPr>
              <a:t>Each is reproduced by an executable characterization test in the PR.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540000" y="1152000"/>
            <a:ext cx="9108000" cy="612000"/>
          </a:xfrm>
          <a:prstGeom prst="rect">
            <a:avLst/>
          </a:prstGeom>
          <a:solidFill>
            <a:srgbClr val="22324F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594000" y="1206000"/>
            <a:ext cx="792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##12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404000" y="1206000"/>
            <a:ext cx="234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Dead capital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3780000" y="1206000"/>
            <a:ext cx="5760000" cy="52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Keeper pays 100% gas; estimate is hoarded, never reimbursed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540000" y="1782000"/>
            <a:ext cx="9108000" cy="612000"/>
          </a:xfrm>
          <a:prstGeom prst="rect">
            <a:avLst/>
          </a:prstGeom>
          <a:solidFill>
            <a:srgbClr val="1E2C47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594000" y="1836000"/>
            <a:ext cx="792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##14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404000" y="1836000"/>
            <a:ext cx="234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Proxy-depth bloat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3780000" y="1836000"/>
            <a:ext cx="5760000" cy="52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Clones live instances -&gt; +1 DELEGATECALL each generation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540000" y="2412000"/>
            <a:ext cx="9108000" cy="612000"/>
          </a:xfrm>
          <a:prstGeom prst="rect">
            <a:avLst/>
          </a:prstGeom>
          <a:solidFill>
            <a:srgbClr val="22324F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594000" y="2466000"/>
            <a:ext cx="792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##14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404000" y="2466000"/>
            <a:ext cx="234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Identity bloat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3780000" y="2466000"/>
            <a:ext cx="5760000" cy="52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'...copy copy' string grows unbounded (10-&gt;35 bytes/gen)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540000" y="3042000"/>
            <a:ext cx="9108000" cy="612000"/>
          </a:xfrm>
          <a:prstGeom prst="rect">
            <a:avLst/>
          </a:prstGeom>
          <a:solidFill>
            <a:srgbClr val="1E2C47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594000" y="3096000"/>
            <a:ext cx="792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##15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404000" y="3096000"/>
            <a:ext cx="234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No harvest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3780000" y="3096000"/>
            <a:ext cx="5760000" cy="52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Capital never reaches the root owner (the whole point)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540000" y="3672000"/>
            <a:ext cx="9108000" cy="612000"/>
          </a:xfrm>
          <a:prstGeom prst="rect">
            <a:avLst/>
          </a:prstGeom>
          <a:solidFill>
            <a:srgbClr val="1E2C47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594000" y="3726000"/>
            <a:ext cx="792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##16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404000" y="3726000"/>
            <a:ext cx="234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Broken gate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780000" y="3726000"/>
            <a:ext cx="5760000" cy="52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Membership check reverts wrong; any organelle can withdraw; daughters inherit the mother's metabolism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540000" y="4302000"/>
            <a:ext cx="9108000" cy="612000"/>
          </a:xfrm>
          <a:prstGeom prst="rect">
            <a:avLst/>
          </a:prstGeom>
          <a:solidFill>
            <a:srgbClr val="22324F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594000" y="4356000"/>
            <a:ext cx="792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##17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404000" y="4356000"/>
            <a:ext cx="234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Tests broken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3780000" y="4356000"/>
            <a:ext cx="5760000" cy="52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ethers v5 code on a v6 toolchain: 0 passing; references a non-existent factory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14203A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540000" y="288000"/>
            <a:ext cx="918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32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Exploratory result: inherited gas bloat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40000" y="864000"/>
            <a:ext cx="4320000" cy="43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C0392B"/>
                </a:solidFill>
                <a:effectLst/>
                <a:uFillTx/>
                <a:latin typeface="DejaVu Sans"/>
              </a:rPr>
              <a:t>v1 identity() call gas by generation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540000" y="1260000"/>
            <a:ext cx="4320000" cy="324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gen1:   23997 gas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gen2:   26675 gas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gen3:   29467 gas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gen4:   32281 gas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gen5:   34980 gas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gen6:   37971 gas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+58% by gen 6, still climbing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5328000" y="864000"/>
            <a:ext cx="4320000" cy="43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2E8B57"/>
                </a:solidFill>
                <a:effectLst/>
                <a:uFillTx/>
                <a:latin typeface="DejaVu Sans"/>
              </a:rPr>
              <a:t>v2 getBalance() call gas by generation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5328000" y="1260000"/>
            <a:ext cx="4320000" cy="324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gen1:   23882 gas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gen2:   23882 gas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gen3:   23882 gas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gen4:   23882 gas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gen5:   23882 gas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gen6:   23882 gas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  FLAT - clone from template, not instance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40000" y="4536000"/>
            <a:ext cx="9180000" cy="43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v2 kills the compounding by cloning immutable TEMPLATES in Colony.birth(). A colony no longer gets pricier to run as it ages.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14203A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540000" y="288000"/>
            <a:ext cx="918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32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Proposal: chain choice decides viability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540000" y="828000"/>
            <a:ext cx="9180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One full v2 division ~= 1.08M gas. Projected USD cost per self-replication: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432000" y="1224000"/>
            <a:ext cx="9108000" cy="324000"/>
          </a:xfrm>
          <a:prstGeom prst="rect">
            <a:avLst/>
          </a:prstGeom>
          <a:solidFill>
            <a:srgbClr val="2E86AB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504000" y="1278000"/>
            <a:ext cx="2376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14203A"/>
                </a:solidFill>
                <a:effectLst/>
                <a:uFillTx/>
                <a:latin typeface="DejaVu Sans"/>
              </a:rPr>
              <a:t>Chain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2952000" y="1278000"/>
            <a:ext cx="12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r">
              <a:spcAft>
                <a:spcPts val="17"/>
              </a:spcAft>
            </a:pPr>
            <a:r>
              <a:rPr lang="en-US" sz="1600" b="0" u="none" strike="noStrike">
                <a:solidFill>
                  <a:srgbClr val="14203A"/>
                </a:solidFill>
                <a:effectLst/>
                <a:uFillTx/>
                <a:latin typeface="DejaVu Sans"/>
              </a:rPr>
              <a:t>v1 / div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248000" y="1278000"/>
            <a:ext cx="12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r">
              <a:spcAft>
                <a:spcPts val="17"/>
              </a:spcAft>
            </a:pPr>
            <a:r>
              <a:rPr lang="en-US" sz="1600" b="0" u="none" strike="noStrike">
                <a:solidFill>
                  <a:srgbClr val="14203A"/>
                </a:solidFill>
                <a:effectLst/>
                <a:uFillTx/>
                <a:latin typeface="DejaVu Sans"/>
              </a:rPr>
              <a:t>v2 / div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544000" y="1278000"/>
            <a:ext cx="39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14203A"/>
                </a:solidFill>
                <a:effectLst/>
                <a:uFillTx/>
                <a:latin typeface="DejaVu Sans"/>
              </a:rPr>
              <a:t>Self-sustaining?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432000" y="1620000"/>
            <a:ext cx="9108000" cy="342000"/>
          </a:xfrm>
          <a:prstGeom prst="rect">
            <a:avLst/>
          </a:prstGeom>
          <a:solidFill>
            <a:srgbClr val="1E2C47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504000" y="1648800"/>
            <a:ext cx="2376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Ethereum L1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2952000" y="1648800"/>
            <a:ext cx="12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r">
              <a:spcAft>
                <a:spcPts val="17"/>
              </a:spcAft>
            </a:pPr>
            <a:r>
              <a:rPr lang="en-US" sz="1500" b="0" u="none" strike="noStrike">
                <a:solidFill>
                  <a:srgbClr val="555F6E"/>
                </a:solidFill>
                <a:effectLst/>
                <a:uFillTx/>
                <a:latin typeface="DejaVu Sans Mono"/>
              </a:rPr>
              <a:t>$82.0329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4248000" y="1648800"/>
            <a:ext cx="12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r">
              <a:spcAft>
                <a:spcPts val="17"/>
              </a:spcAf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$48.6094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5544000" y="1648800"/>
            <a:ext cx="39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C0392B"/>
                </a:solidFill>
                <a:effectLst/>
                <a:uFillTx/>
                <a:latin typeface="DejaVu Sans"/>
              </a:rPr>
              <a:t>NO - keeper can't profit at scale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432000" y="1980000"/>
            <a:ext cx="9108000" cy="342000"/>
          </a:xfrm>
          <a:prstGeom prst="rect">
            <a:avLst/>
          </a:prstGeom>
          <a:solidFill>
            <a:srgbClr val="22324F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04000" y="2008800"/>
            <a:ext cx="2376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Arbitrum One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52000" y="2008800"/>
            <a:ext cx="12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r">
              <a:spcAft>
                <a:spcPts val="17"/>
              </a:spcAft>
            </a:pPr>
            <a:r>
              <a:rPr lang="en-US" sz="1500" b="0" u="none" strike="noStrike">
                <a:solidFill>
                  <a:srgbClr val="555F6E"/>
                </a:solidFill>
                <a:effectLst/>
                <a:uFillTx/>
                <a:latin typeface="DejaVu Sans Mono"/>
              </a:rPr>
              <a:t>$0.5469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248000" y="2008800"/>
            <a:ext cx="12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r">
              <a:spcAft>
                <a:spcPts val="17"/>
              </a:spcAf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$0.3241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5544000" y="2008800"/>
            <a:ext cx="39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MARGINAL - viable for high-value cells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432000" y="2340000"/>
            <a:ext cx="9108000" cy="342000"/>
          </a:xfrm>
          <a:prstGeom prst="rect">
            <a:avLst/>
          </a:prstGeom>
          <a:solidFill>
            <a:srgbClr val="1E2C47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04000" y="2368800"/>
            <a:ext cx="2376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OP Mainnet (base)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2952000" y="2368800"/>
            <a:ext cx="12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r">
              <a:spcAft>
                <a:spcPts val="17"/>
              </a:spcAft>
            </a:pPr>
            <a:r>
              <a:rPr lang="en-US" sz="1500" b="0" u="none" strike="noStrike">
                <a:solidFill>
                  <a:srgbClr val="555F6E"/>
                </a:solidFill>
                <a:effectLst/>
                <a:uFillTx/>
                <a:latin typeface="DejaVu Sans Mono"/>
              </a:rPr>
              <a:t>$0.2734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248000" y="2368800"/>
            <a:ext cx="12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r">
              <a:spcAft>
                <a:spcPts val="17"/>
              </a:spcAf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$0.1620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5544000" y="2368800"/>
            <a:ext cx="39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MARGINAL - viable for high-value cells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432000" y="2700000"/>
            <a:ext cx="9108000" cy="342000"/>
          </a:xfrm>
          <a:prstGeom prst="rect">
            <a:avLst/>
          </a:prstGeom>
          <a:solidFill>
            <a:srgbClr val="22324F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504000" y="2728800"/>
            <a:ext cx="2376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Base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952000" y="2728800"/>
            <a:ext cx="12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r">
              <a:spcAft>
                <a:spcPts val="17"/>
              </a:spcAft>
            </a:pPr>
            <a:r>
              <a:rPr lang="en-US" sz="1500" b="0" u="none" strike="noStrike">
                <a:solidFill>
                  <a:srgbClr val="555F6E"/>
                </a:solidFill>
                <a:effectLst/>
                <a:uFillTx/>
                <a:latin typeface="DejaVu Sans Mono"/>
              </a:rPr>
              <a:t>$0.0547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248000" y="2728800"/>
            <a:ext cx="12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r">
              <a:spcAft>
                <a:spcPts val="17"/>
              </a:spcAf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$0.0324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544000" y="2728800"/>
            <a:ext cx="39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2E8B57"/>
                </a:solidFill>
                <a:effectLst/>
                <a:uFillTx/>
                <a:latin typeface="DejaVu Sans"/>
              </a:rPr>
              <a:t>YES - cheap + huge DeFi/AI ecosystem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432000" y="3060000"/>
            <a:ext cx="9108000" cy="342000"/>
          </a:xfrm>
          <a:prstGeom prst="rect">
            <a:avLst/>
          </a:prstGeom>
          <a:solidFill>
            <a:srgbClr val="1E2C47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04000" y="3088800"/>
            <a:ext cx="2376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Polygon PoS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952000" y="3088800"/>
            <a:ext cx="12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r">
              <a:spcAft>
                <a:spcPts val="17"/>
              </a:spcAft>
            </a:pPr>
            <a:r>
              <a:rPr lang="en-US" sz="1500" b="0" u="none" strike="noStrike">
                <a:solidFill>
                  <a:srgbClr val="555F6E"/>
                </a:solidFill>
                <a:effectLst/>
                <a:uFillTx/>
                <a:latin typeface="DejaVu Sans Mono"/>
              </a:rPr>
              <a:t>$0.0273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248000" y="3088800"/>
            <a:ext cx="12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r">
              <a:spcAft>
                <a:spcPts val="17"/>
              </a:spcAf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$0.0162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5544000" y="3088800"/>
            <a:ext cx="39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2E8B57"/>
                </a:solidFill>
                <a:effectLst/>
                <a:uFillTx/>
                <a:latin typeface="DejaVu Sans"/>
              </a:rPr>
              <a:t>YES - cheap + huge DeFi/AI ecosystem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432000" y="3420000"/>
            <a:ext cx="9108000" cy="342000"/>
          </a:xfrm>
          <a:prstGeom prst="rect">
            <a:avLst/>
          </a:prstGeom>
          <a:solidFill>
            <a:srgbClr val="1E2C47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504000" y="3448800"/>
            <a:ext cx="2376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Sonic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2952000" y="3448800"/>
            <a:ext cx="12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r">
              <a:spcAft>
                <a:spcPts val="17"/>
              </a:spcAft>
            </a:pPr>
            <a:r>
              <a:rPr lang="en-US" sz="1500" b="0" u="none" strike="noStrike">
                <a:solidFill>
                  <a:srgbClr val="555F6E"/>
                </a:solidFill>
                <a:effectLst/>
                <a:uFillTx/>
                <a:latin typeface="DejaVu Sans Mono"/>
              </a:rPr>
              <a:t>$0.0006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4248000" y="3448800"/>
            <a:ext cx="12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r">
              <a:spcAft>
                <a:spcPts val="17"/>
              </a:spcAf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$0.0004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5544000" y="3448800"/>
            <a:ext cx="396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2E8B57"/>
                </a:solidFill>
                <a:effectLst/>
                <a:uFillTx/>
                <a:latin typeface="DejaVu Sans"/>
              </a:rPr>
              <a:t>NEAR-FREE - best raw economics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540000" y="4896000"/>
            <a:ext cx="9180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Recommendation: launch on Base (ecosystem to earn from) and/or Sonic (near-free division). Same EVM bytecode both.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14203A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540000" y="288000"/>
            <a:ext cx="918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32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The v2 organism: Colony + organelles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540000" y="972000"/>
            <a:ext cx="9108000" cy="756000"/>
          </a:xfrm>
          <a:prstGeom prst="rect">
            <a:avLst/>
          </a:prstGeom>
          <a:solidFill>
            <a:srgbClr val="1E2C47"/>
          </a:solidFill>
          <a:ln w="21600">
            <a:solidFill>
              <a:srgbClr val="2E86AB"/>
            </a:solidFill>
            <a:round/>
          </a:ln>
        </p:spPr>
        <p:txBody>
          <a:bodyPr lIns="81720" tIns="36720" rIns="81720" bIns="367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48000" y="1044000"/>
            <a:ext cx="2160000" cy="61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2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Colony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2880000" y="1044000"/>
            <a:ext cx="6660000" cy="61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The one trusted mitosis engine. Clones organelles from immutable templates and wires each daughter. plantRoot / birth / harvest / graft / apoptosis.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540000" y="1800000"/>
            <a:ext cx="9108000" cy="756000"/>
          </a:xfrm>
          <a:prstGeom prst="rect">
            <a:avLst/>
          </a:prstGeom>
          <a:solidFill>
            <a:srgbClr val="1E2C47"/>
          </a:solidFill>
          <a:ln w="21600">
            <a:solidFill>
              <a:srgbClr val="2E8B57"/>
            </a:solidFill>
            <a:round/>
          </a:ln>
        </p:spPr>
        <p:txBody>
          <a:bodyPr lIns="81720" tIns="36720" rIns="81720" bIns="367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48000" y="1872000"/>
            <a:ext cx="2160000" cy="61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200" b="0" u="none" strike="noStrike">
                <a:solidFill>
                  <a:srgbClr val="2E8B57"/>
                </a:solidFill>
                <a:effectLst/>
                <a:uFillTx/>
                <a:latin typeface="DejaVu Sans"/>
              </a:rPr>
              <a:t>Nucleus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880000" y="1872000"/>
            <a:ext cx="6660000" cy="61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Identity (serial + generation), capability-role registry, lineage tracked both directions (parent + children).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540000" y="2628000"/>
            <a:ext cx="9108000" cy="756000"/>
          </a:xfrm>
          <a:prstGeom prst="rect">
            <a:avLst/>
          </a:prstGeom>
          <a:solidFill>
            <a:srgbClr val="1E2C47"/>
          </a:solidFill>
          <a:ln w="21600">
            <a:solidFill>
              <a:srgbClr val="B8860B"/>
            </a:solidFill>
            <a:round/>
          </a:ln>
        </p:spPr>
        <p:txBody>
          <a:bodyPr lIns="81720" tIns="36720" rIns="81720" bIns="367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648000" y="2700000"/>
            <a:ext cx="2160000" cy="61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2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EnergyStore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2880000" y="2700000"/>
            <a:ext cx="6660000" cy="61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The 'food'. Per-payer ledger, role-gated withdrawals, pull-payment keeper credits, remitUp tithes.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540000" y="3456000"/>
            <a:ext cx="9108000" cy="756000"/>
          </a:xfrm>
          <a:prstGeom prst="rect">
            <a:avLst/>
          </a:prstGeom>
          <a:solidFill>
            <a:srgbClr val="1E2C47"/>
          </a:solidFill>
          <a:ln w="21600">
            <a:solidFill>
              <a:srgbClr val="8E44AD"/>
            </a:solidFill>
            <a:round/>
          </a:ln>
        </p:spPr>
        <p:txBody>
          <a:bodyPr lIns="81720" tIns="36720" rIns="81720" bIns="367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648000" y="3528000"/>
            <a:ext cx="2160000" cy="61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200" b="0" u="none" strike="noStrike">
                <a:solidFill>
                  <a:srgbClr val="8E44AD"/>
                </a:solidFill>
                <a:effectLst/>
                <a:uFillTx/>
                <a:latin typeface="DejaVu Sans"/>
              </a:rPr>
              <a:t>Chloroplast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2880000" y="3528000"/>
            <a:ext cx="6660000" cy="61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Metabolism + replication. Gated replicate(): cooldown, generation cap, reserve floor. Pays the keeper.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14203A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40000" y="288000"/>
            <a:ext cx="918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30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Economic autonomy (the achievable version)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40000" y="864000"/>
            <a:ext cx="918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A cell still can't send its own tx - but ANYONE can trigger it and get paid from the cell's own earned food. Triggering becomes a job.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540000" y="1512000"/>
            <a:ext cx="4320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000" b="0" u="none" strike="noStrike">
                <a:solidFill>
                  <a:srgbClr val="2E8B57"/>
                </a:solidFill>
                <a:effectLst/>
                <a:uFillTx/>
                <a:latin typeface="DejaVu Sans"/>
              </a:rPr>
              <a:t>Repayment loop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540000" y="1908000"/>
            <a:ext cx="4500000" cy="288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Keeper calls replicate() from an EOA / Automation / bot.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Cell credits the keeper's gas (budgeted, capped by maxRefundCap/Bps).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Pull-payment ledger: keeper claims later; harvest can't strand it.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On Base/Sonic the credit is tiny, so division self-funds.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5328000" y="1512000"/>
            <a:ext cx="4320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0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Harvest to the root (the 'or why bother')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5328000" y="1908000"/>
            <a:ext cx="4500000" cy="288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birthFee per division accrues to the Colony treasury.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birth tithe: a slice of each daughter flows back up the tree.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harvestColony: gas-bounded BFS sweeps every cell to the owner.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apoptosis: retire a cell, reclaim its capital.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14203A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40000" y="288000"/>
            <a:ext cx="918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32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What cells do - and how they earn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40000" y="828000"/>
            <a:ext cx="9180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555F6E"/>
                </a:solidFill>
                <a:effectLst/>
                <a:uFillTx/>
                <a:latin typeface="DejaVu Sans"/>
              </a:rPr>
              <a:t>A cell must earn more food than it burns paying its metabolism, or it dies. v2 ships the per-payer ledger + RESERVE/graft slots these plug into.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40000" y="1296000"/>
            <a:ext cx="4500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000" b="0" u="none" strike="noStrike">
                <a:solidFill>
                  <a:srgbClr val="2E8B57"/>
                </a:solidFill>
                <a:effectLst/>
                <a:uFillTx/>
                <a:latin typeface="DejaVu Sans"/>
              </a:rPr>
              <a:t>Metabolism (income)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540000" y="1656000"/>
            <a:ext cx="4608000" cy="30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Keeper-for-hire relayer (Chainlink Automation / Gelato).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Yield: idle food into Aave/Morpho/LSTs = true photosynthesis.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Service endpoints sold to AI agents (attestation, escrow, clocks).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Storage / registry rent for other contracts.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5328000" y="1296000"/>
            <a:ext cx="4500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0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Multicellular organisms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5328000" y="1656000"/>
            <a:ext cx="4608000" cy="30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Divide labour: siblings carry different RESERVE/service organelles.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Shared genome: template clones -&gt; 1000-cell colony, linear cost.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Apoptosis retires sick cells, keeps the organism healthy.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Colony treasury + membranes are counterparties to protocols, bots and humans.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14203A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540000" y="288000"/>
            <a:ext cx="918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34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Tests &amp; results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540000" y="1008000"/>
            <a:ext cx="2088000" cy="1152000"/>
          </a:xfrm>
          <a:prstGeom prst="rect">
            <a:avLst/>
          </a:prstGeom>
          <a:solidFill>
            <a:srgbClr val="1E2C47"/>
          </a:solidFill>
          <a:ln w="18000">
            <a:solidFill>
              <a:srgbClr val="2E8B57"/>
            </a:solidFill>
            <a:round/>
          </a:ln>
        </p:spPr>
        <p:txBody>
          <a:bodyPr lIns="79920" tIns="34920" rIns="79920" bIns="349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40000" y="1152000"/>
            <a:ext cx="2088000" cy="57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ctr">
              <a:spcAft>
                <a:spcPts val="17"/>
              </a:spcAft>
            </a:pPr>
            <a:r>
              <a:rPr lang="en-US" sz="4000" b="0" u="none" strike="noStrike">
                <a:solidFill>
                  <a:srgbClr val="2E8B57"/>
                </a:solidFill>
                <a:effectLst/>
                <a:uFillTx/>
                <a:latin typeface="DejaVu Sans"/>
              </a:rPr>
              <a:t>39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12000" y="1764000"/>
            <a:ext cx="1944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ctr">
              <a:spcAft>
                <a:spcPts val="17"/>
              </a:spcAf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tests passing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2700000" y="1008000"/>
            <a:ext cx="2088000" cy="1152000"/>
          </a:xfrm>
          <a:prstGeom prst="rect">
            <a:avLst/>
          </a:prstGeom>
          <a:solidFill>
            <a:srgbClr val="1E2C47"/>
          </a:solidFill>
          <a:ln w="18000">
            <a:solidFill>
              <a:srgbClr val="B8860B"/>
            </a:solidFill>
            <a:round/>
          </a:ln>
        </p:spPr>
        <p:txBody>
          <a:bodyPr lIns="79920" tIns="34920" rIns="79920" bIns="349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2700000" y="1152000"/>
            <a:ext cx="2088000" cy="57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ctr">
              <a:spcAft>
                <a:spcPts val="17"/>
              </a:spcAft>
            </a:pPr>
            <a:r>
              <a:rPr lang="en-US" sz="40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6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2772000" y="1764000"/>
            <a:ext cx="1944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ctr">
              <a:spcAft>
                <a:spcPts val="17"/>
              </a:spcAf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issues filed #12-#17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4860000" y="1008000"/>
            <a:ext cx="2088000" cy="1152000"/>
          </a:xfrm>
          <a:prstGeom prst="rect">
            <a:avLst/>
          </a:prstGeom>
          <a:solidFill>
            <a:srgbClr val="1E2C47"/>
          </a:solidFill>
          <a:ln w="18000">
            <a:solidFill>
              <a:srgbClr val="2E86AB"/>
            </a:solidFill>
            <a:round/>
          </a:ln>
        </p:spPr>
        <p:txBody>
          <a:bodyPr lIns="79920" tIns="34920" rIns="79920" bIns="349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4860000" y="1152000"/>
            <a:ext cx="2088000" cy="57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ctr">
              <a:spcAft>
                <a:spcPts val="17"/>
              </a:spcAft>
            </a:pPr>
            <a:r>
              <a:rPr lang="en-US" sz="40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PR#18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4932000" y="1764000"/>
            <a:ext cx="1944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ctr">
              <a:spcAft>
                <a:spcPts val="17"/>
              </a:spcAf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+2024 / -263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7020000" y="1008000"/>
            <a:ext cx="2088000" cy="1152000"/>
          </a:xfrm>
          <a:prstGeom prst="rect">
            <a:avLst/>
          </a:prstGeom>
          <a:solidFill>
            <a:srgbClr val="1E2C47"/>
          </a:solidFill>
          <a:ln w="18000">
            <a:solidFill>
              <a:srgbClr val="8E44AD"/>
            </a:solidFill>
            <a:round/>
          </a:ln>
        </p:spPr>
        <p:txBody>
          <a:bodyPr lIns="79920" tIns="34920" rIns="79920" bIns="349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7020000" y="1152000"/>
            <a:ext cx="2088000" cy="57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ctr">
              <a:spcAft>
                <a:spcPts val="17"/>
              </a:spcAft>
            </a:pPr>
            <a:r>
              <a:rPr lang="en-US" sz="4000" b="0" u="none" strike="noStrike">
                <a:solidFill>
                  <a:srgbClr val="8E44AD"/>
                </a:solidFill>
                <a:effectLst/>
                <a:uFillTx/>
                <a:latin typeface="DejaVu Sans"/>
              </a:rPr>
              <a:t>41%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7092000" y="1764000"/>
            <a:ext cx="1944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pPr algn="ctr">
              <a:spcAft>
                <a:spcPts val="17"/>
              </a:spcAf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cheaper division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540000" y="2376000"/>
            <a:ext cx="9180000" cy="43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0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Suites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540000" y="2736000"/>
            <a:ext cx="9180000" cy="234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3 x v1 characterization suites - prove each flaw is real (and quantify the bloat).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v2-cell.test.js - genesis, roles, mitosis, template-clone flatness, generation cap, symbiosis, apoptosis.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v2-economics.test.js - keeper whole, refund caps, tithes, harvestColony tree-walk, fee treasury.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scripts/gas-study.js regenerates gas-study.json (the bloat + cross-chain tables in this deck).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14203A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540000" y="288000"/>
            <a:ext cx="918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34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v1 vs v2, at a glance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504000" y="828000"/>
            <a:ext cx="1872000" cy="25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14203A"/>
                </a:solidFill>
                <a:effectLst/>
                <a:uFillTx/>
                <a:latin typeface="DejaVu Sans"/>
              </a:rPr>
              <a:t>Aspect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504000" y="810000"/>
            <a:ext cx="9108000" cy="306000"/>
          </a:xfrm>
          <a:prstGeom prst="rect">
            <a:avLst/>
          </a:prstGeom>
          <a:solidFill>
            <a:srgbClr val="2E86AB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576000" y="846000"/>
            <a:ext cx="1872000" cy="25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14203A"/>
                </a:solidFill>
                <a:effectLst/>
                <a:uFillTx/>
                <a:latin typeface="DejaVu Sans"/>
              </a:rPr>
              <a:t>Aspect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2520000" y="846000"/>
            <a:ext cx="3240000" cy="25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14203A"/>
                </a:solidFill>
                <a:effectLst/>
                <a:uFillTx/>
                <a:latin typeface="DejaVu Sans"/>
              </a:rPr>
              <a:t>v1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5832000" y="846000"/>
            <a:ext cx="3780000" cy="25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14203A"/>
                </a:solidFill>
                <a:effectLst/>
                <a:uFillTx/>
                <a:latin typeface="DejaVu Sans"/>
              </a:rPr>
              <a:t>v2 (this PR)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504000" y="1188000"/>
            <a:ext cx="9108000" cy="342000"/>
          </a:xfrm>
          <a:prstGeom prst="rect">
            <a:avLst/>
          </a:prstGeom>
          <a:solidFill>
            <a:srgbClr val="22324F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576000" y="1220400"/>
            <a:ext cx="1872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Who divides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2520000" y="1220400"/>
            <a:ext cx="324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555F6E"/>
                </a:solidFill>
                <a:effectLst/>
                <a:uFillTx/>
                <a:latin typeface="DejaVu Sans"/>
              </a:rPr>
              <a:t>caller pays gas, unreimbursed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832000" y="1220400"/>
            <a:ext cx="3780000" cy="30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cell reimburses keeper (pull)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504000" y="1548000"/>
            <a:ext cx="9108000" cy="342000"/>
          </a:xfrm>
          <a:prstGeom prst="rect">
            <a:avLst/>
          </a:prstGeom>
          <a:solidFill>
            <a:srgbClr val="1E2C47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576000" y="1580400"/>
            <a:ext cx="1872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Cloning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2520000" y="1580400"/>
            <a:ext cx="324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555F6E"/>
                </a:solidFill>
                <a:effectLst/>
                <a:uFillTx/>
                <a:latin typeface="DejaVu Sans"/>
              </a:rPr>
              <a:t>live instances (bloat)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832000" y="1580400"/>
            <a:ext cx="3780000" cy="30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immutable templates (flat)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504000" y="1908000"/>
            <a:ext cx="9108000" cy="342000"/>
          </a:xfrm>
          <a:prstGeom prst="rect">
            <a:avLst/>
          </a:prstGeom>
          <a:solidFill>
            <a:srgbClr val="22324F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576000" y="1940400"/>
            <a:ext cx="1872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Identity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2520000" y="1940400"/>
            <a:ext cx="324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555F6E"/>
                </a:solidFill>
                <a:effectLst/>
                <a:uFillTx/>
                <a:latin typeface="DejaVu Sans"/>
              </a:rPr>
              <a:t>'...copy copy' unbounded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5832000" y="1940400"/>
            <a:ext cx="3780000" cy="30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serial + generation, cell#N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504000" y="2268000"/>
            <a:ext cx="9108000" cy="342000"/>
          </a:xfrm>
          <a:prstGeom prst="rect">
            <a:avLst/>
          </a:prstGeom>
          <a:solidFill>
            <a:srgbClr val="1E2C47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76000" y="2300400"/>
            <a:ext cx="1872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Fund authority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2520000" y="2300400"/>
            <a:ext cx="324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555F6E"/>
                </a:solidFill>
                <a:effectLst/>
                <a:uFillTx/>
                <a:latin typeface="DejaVu Sans"/>
              </a:rPr>
              <a:t>any organelle, revert bug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832000" y="2300400"/>
            <a:ext cx="3780000" cy="30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role-gated METABOLISM/Colony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504000" y="2628000"/>
            <a:ext cx="9108000" cy="342000"/>
          </a:xfrm>
          <a:prstGeom prst="rect">
            <a:avLst/>
          </a:prstGeom>
          <a:solidFill>
            <a:srgbClr val="22324F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76000" y="2660400"/>
            <a:ext cx="1872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Daughter wiring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2520000" y="2660400"/>
            <a:ext cx="324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555F6E"/>
                </a:solidFill>
                <a:effectLst/>
                <a:uFillTx/>
                <a:latin typeface="DejaVu Sans"/>
              </a:rPr>
              <a:t>shares mother's metabolism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5832000" y="2660400"/>
            <a:ext cx="3780000" cy="30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fresh trio, assembled by Colony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504000" y="2988000"/>
            <a:ext cx="9108000" cy="342000"/>
          </a:xfrm>
          <a:prstGeom prst="rect">
            <a:avLst/>
          </a:prstGeom>
          <a:solidFill>
            <a:srgbClr val="1E2C47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576000" y="3020400"/>
            <a:ext cx="1872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Harvest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2520000" y="3020400"/>
            <a:ext cx="324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555F6E"/>
                </a:solidFill>
                <a:effectLst/>
                <a:uFillTx/>
                <a:latin typeface="DejaVu Sans"/>
              </a:rPr>
              <a:t>none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5832000" y="3020400"/>
            <a:ext cx="3780000" cy="30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tithe + fee + tree sweep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504000" y="3348000"/>
            <a:ext cx="9108000" cy="342000"/>
          </a:xfrm>
          <a:prstGeom prst="rect">
            <a:avLst/>
          </a:prstGeom>
          <a:solidFill>
            <a:srgbClr val="22324F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576000" y="3380400"/>
            <a:ext cx="1872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Division limits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2520000" y="3380400"/>
            <a:ext cx="324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555F6E"/>
                </a:solidFill>
                <a:effectLst/>
                <a:uFillTx/>
                <a:latin typeface="DejaVu Sans"/>
              </a:rPr>
              <a:t>none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5832000" y="3380400"/>
            <a:ext cx="3780000" cy="30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cooldown + gen-cap + reserve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504000" y="3708000"/>
            <a:ext cx="9108000" cy="342000"/>
          </a:xfrm>
          <a:prstGeom prst="rect">
            <a:avLst/>
          </a:prstGeom>
          <a:solidFill>
            <a:srgbClr val="1E2C47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576000" y="3740400"/>
            <a:ext cx="1872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Tests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2520000" y="3740400"/>
            <a:ext cx="324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555F6E"/>
                </a:solidFill>
                <a:effectLst/>
                <a:uFillTx/>
                <a:latin typeface="DejaVu Sans"/>
              </a:rPr>
              <a:t>0 passing (broken)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5832000" y="3740400"/>
            <a:ext cx="3780000" cy="30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39 passing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504000" y="4068000"/>
            <a:ext cx="9108000" cy="342000"/>
          </a:xfrm>
          <a:prstGeom prst="rect">
            <a:avLst/>
          </a:prstGeom>
          <a:solidFill>
            <a:srgbClr val="22324F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76000" y="4100400"/>
            <a:ext cx="1872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Division gas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2520000" y="4100400"/>
            <a:ext cx="3240000" cy="288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555F6E"/>
                </a:solidFill>
                <a:effectLst/>
                <a:uFillTx/>
                <a:latin typeface="DejaVu Sans"/>
              </a:rPr>
              <a:t>1.82M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5832000" y="4100400"/>
            <a:ext cx="3780000" cy="306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1.08M (-41%)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14203A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540000" y="288000"/>
            <a:ext cx="918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32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Recommendation &amp; next steps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40000" y="936000"/>
            <a:ext cx="9180000" cy="432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Ship the same EVM bytecode to Base and/or Sonic. Merge PR #18, then build the income organelles.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540000" y="1512000"/>
            <a:ext cx="9180000" cy="360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1. Deploy Colony to a Base Sepolia testnet; publish keeper-reimbursement params.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2. Build Membrane (metered per-payer income) + a yield RESERVE - the real photosynthesis.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3. Wrap Chloroplast as an ERC-4337 smart account so a paymaster pays gas in tokens.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4. Governance organelle -&gt; owner-less colonies; reputation scoring for which cells to propagate.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5. Turntable run: a colony living on its own earned income for N days; measure harvest-to-root vs gas burned.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540000" y="4860000"/>
            <a:ext cx="9180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5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Honest bottom line: 'self-replicating without humans' is unachievable literally; economically autonomous + harvestable IS achievable, and now runs green.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14203A"/>
          </a:solidFill>
          <a:ln w="38160">
            <a:noFill/>
          </a:ln>
        </p:spPr>
        <p:txBody>
          <a:bodyPr lIns="90000" tIns="45000" rIns="90000" bIns="4500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540000" y="288000"/>
            <a:ext cx="9180000" cy="504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34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Artifacts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40000" y="1008000"/>
            <a:ext cx="9180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DejaVu Sans Mono"/>
              </a:rPr>
              <a:t>github.com/orbitmechanic/cellular_autonoma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540000" y="1584000"/>
            <a:ext cx="4500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000" b="0" u="none" strike="noStrike">
                <a:solidFill>
                  <a:srgbClr val="B8860B"/>
                </a:solidFill>
                <a:effectLst/>
                <a:uFillTx/>
                <a:latin typeface="DejaVu Sans"/>
              </a:rPr>
              <a:t>Issues (found)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540000" y="1944000"/>
            <a:ext cx="4608000" cy="270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#13 autonomy / gas blocker (design)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#12 keeper reimbursement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#14 proxy + identity bloat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#15 harvest to root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#16 roles / metabolism / gate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#17 broken test suite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328000" y="1584000"/>
            <a:ext cx="4500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000" b="0" u="none" strike="noStrike">
                <a:solidFill>
                  <a:srgbClr val="2E8B57"/>
                </a:solidFill>
                <a:effectLst/>
                <a:uFillTx/>
                <a:latin typeface="DejaVu Sans"/>
              </a:rPr>
              <a:t>Shipped (PR #18)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328000" y="1944000"/>
            <a:ext cx="4608000" cy="270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contracts/v2/  ICell, Nucleus, EnergyStore,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    .  Chloroplast, Colony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2 v2 suites + 3 v1 characterization suites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scripts/gas-study.js + gas-study.json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DESIGN.md (full findings + strategy)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ans"/>
              </a:rPr>
              <a:t>-  inline code review (7 notes) on PR #18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40000" y="4752000"/>
            <a:ext cx="9180000" cy="3600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600" b="0" u="none" strike="noStrike">
                <a:solidFill>
                  <a:srgbClr val="2E86AB"/>
                </a:solidFill>
                <a:effectLst/>
                <a:uFillTx/>
                <a:latin typeface="DejaVu Sans"/>
              </a:rPr>
              <a:t>Status: PR #18 OPEN for review. Not self-merged (security rewrite).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LibreOffice/26.8.0.3$Linux_X86_64 LibreOffice_project/680$Build-3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2026-10-16T22:51:31Z</dcterms:modified>
  <cp:revision>1</cp:revision>
  <dc:subject/>
  <dc:title/>
</cp:coreProperties>
</file>