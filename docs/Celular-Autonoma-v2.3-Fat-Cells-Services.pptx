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6EBD4A-C2B5-45DC-A712-C150AE3810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595200-89A0-48AD-95A1-75CFB659AF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516C7F5-796F-4F6E-B97E-E25AE990FE3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540000" y="1296000"/>
            <a:ext cx="9000000" cy="93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50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CELULAR AUTONOMA  v2.3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558000" y="2304000"/>
            <a:ext cx="9000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0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Fat cells &amp; ecosystem services - storing gas, renting bytes, serving giants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58000" y="2952000"/>
            <a:ext cx="9000000" cy="72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The user's intuition: hoard cheap gas in expensive contracts,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spend it when gas is dear. Meet the 2026 EVM that said 'yes, but'.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558000" y="4896000"/>
            <a:ext cx="900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85 tests passing  -  issues #29-#30  -  PR #31 (stacked on #28)  -  measured, not modeled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540000" y="252000"/>
            <a:ext cx="9180000" cy="5418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2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The idea vs the physics (2021 -&gt; 2026)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540000" y="828000"/>
            <a:ext cx="4500000" cy="3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7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What you proposed (worked pre-2023):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540000" y="1152000"/>
            <a:ext cx="4500000" cy="28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Deploy fat contracts when gas cheap (24k refund reserved)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SELFDESTRUCT when dear: 24,000 gas back per contract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Cap: refunds up to 1/2 of a tx - gas tokens (GST2) were a real market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5328000" y="828000"/>
            <a:ext cx="4500000" cy="3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700" b="0" u="none" strike="noStrike">
                <a:solidFill>
                  <a:srgbClr val="C0392B"/>
                </a:solidFill>
                <a:effectLst/>
                <a:uFillTx/>
                <a:latin typeface="DejaVu Sans"/>
              </a:rPr>
              <a:t>What the chain decided: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328000" y="1152000"/>
            <a:ext cx="4572000" cy="309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EIP-3529: selfdestruct refund DELETED. Clear refund 15k -&gt; 4,800. Refunds capped at 1/5 of tx gas.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EIP-6780: selfdestruct stops deleting the contract at all.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EIP-3298 (scheduled): removes even the last clearing refund - gas tokens stay dead, permanently.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540000" y="4788000"/>
            <a:ext cx="9180000" cy="5418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Verdict: the mechanism is a WASTING ASSET with an expiry date - so the organ is built to profit even after it dies.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540000" y="252000"/>
            <a:ext cx="9180000" cy="5418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2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The Adipocyte - what survived, engineered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540000" y="828000"/>
            <a:ext cx="2988000" cy="3528000"/>
          </a:xfrm>
          <a:prstGeom prst="rect">
            <a:avLst/>
          </a:prstGeom>
          <a:solidFill>
            <a:srgbClr val="1E2C47"/>
          </a:solidFill>
          <a:ln w="21600">
            <a:solidFill>
              <a:srgbClr val="4ECDC4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630000" y="918000"/>
            <a:ext cx="2808000" cy="43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400" b="0" u="none" strike="noStrike">
                <a:solidFill>
                  <a:srgbClr val="4ECDC4"/>
                </a:solidFill>
                <a:effectLst/>
                <a:uFillTx/>
                <a:latin typeface="DejaVu Sans"/>
              </a:rPr>
              <a:t>INFLATE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630000" y="1368000"/>
            <a:ext cx="2808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667080"/>
                </a:solidFill>
                <a:effectLst/>
                <a:uFillTx/>
                <a:latin typeface="DejaVu Sans Mono"/>
              </a:rPr>
              <a:t>basefee &lt;= ceiling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630000" y="1728000"/>
            <a:ext cx="2808000" cy="244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write non-zero slots: 22,100 gas each, auto-run by the expression cycle when gas is cheap. The cell buys 4,800-gas options at a discount.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3672000" y="828000"/>
            <a:ext cx="2988000" cy="3528000"/>
          </a:xfrm>
          <a:prstGeom prst="rect">
            <a:avLst/>
          </a:prstGeom>
          <a:solidFill>
            <a:srgbClr val="1E2C47"/>
          </a:solidFill>
          <a:ln w="21600">
            <a:solidFill>
              <a:srgbClr val="B8860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3762000" y="918000"/>
            <a:ext cx="2808000" cy="43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4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RENDER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3762000" y="1368000"/>
            <a:ext cx="2808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667080"/>
                </a:solidFill>
                <a:effectLst/>
                <a:uFillTx/>
                <a:latin typeface="DejaVu Sans Mono"/>
              </a:rPr>
              <a:t>basefee &gt;= floor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3762000" y="1728000"/>
            <a:ext cx="2808000" cy="244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clear slots: 4,800 refund each, capped at 1/5 of the tx. Permissionless - ANY keeper bundles it into their real work and pays less.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6804000" y="828000"/>
            <a:ext cx="2988000" cy="3528000"/>
          </a:xfrm>
          <a:prstGeom prst="rect">
            <a:avLst/>
          </a:prstGeom>
          <a:solidFill>
            <a:srgbClr val="1E2C47"/>
          </a:solidFill>
          <a:ln w="21600">
            <a:solidFill>
              <a:srgbClr val="2E8B57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6894000" y="918000"/>
            <a:ext cx="2808000" cy="43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4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PARK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6894000" y="1368000"/>
            <a:ext cx="2808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667080"/>
                </a:solidFill>
                <a:effectLst/>
                <a:uFillTx/>
                <a:latin typeface="DejaVu Sans Mono"/>
              </a:rPr>
              <a:t>the business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6894000" y="1728000"/>
            <a:ext cx="2808000" cy="244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tenants PAY rent to hold 32 bytes in an autonomous archive. Rent -&gt; the cell's food. The bytes -&gt; the blubber. EIP-3298 can't kill the rent.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540000" y="4536000"/>
            <a:ext cx="9180000" cy="93276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The refund accrues to the TRANSACTION SENDER - not the contract. The organism therefore spends its fat exactly where the brief always needed it: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subsidizing the keepers who run its metabolism, precisely when metabolism is dear. Biological triage of attention, implemented as an option.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540000" y="252000"/>
            <a:ext cx="9180000" cy="5418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2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Measured on-chain (fat-study.js)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540000" y="792000"/>
            <a:ext cx="9180000" cy="3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64-slot render @10 gwei: billed 383,389 vs executed 479,236 - the exact EIP-3529 4/5 billing signature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540000" y="1152000"/>
            <a:ext cx="9000000" cy="3006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Fatten cheap -&gt; render dear: ETH recovery as a share of fatten cost (64 slots, replicate-scale host tx)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504000" y="1116000"/>
            <a:ext cx="9108000" cy="306000"/>
          </a:xfrm>
          <a:prstGeom prst="rect">
            <a:avLst/>
          </a:prstGeom>
          <a:solidFill>
            <a:srgbClr val="2E86AB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576000" y="1152000"/>
            <a:ext cx="3240000" cy="3006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14203A"/>
                </a:solidFill>
                <a:effectLst/>
                <a:uFillTx/>
                <a:latin typeface="DejaVu Sans"/>
              </a:rPr>
              <a:t>cheap -&gt; dear (gwei)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3960000" y="1152000"/>
            <a:ext cx="1800000" cy="3006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500" b="0" u="none" strike="noStrike">
                <a:solidFill>
                  <a:srgbClr val="14203A"/>
                </a:solidFill>
                <a:effectLst/>
                <a:uFillTx/>
                <a:latin typeface="DejaVu Sans"/>
              </a:rPr>
              <a:t>spent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940000" y="1152000"/>
            <a:ext cx="1800000" cy="3006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500" b="0" u="none" strike="noStrike">
                <a:solidFill>
                  <a:srgbClr val="14203A"/>
                </a:solidFill>
                <a:effectLst/>
                <a:uFillTx/>
                <a:latin typeface="DejaVu Sans"/>
              </a:rPr>
              <a:t>rebate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7920000" y="1152000"/>
            <a:ext cx="1620000" cy="3006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500" b="0" u="none" strike="noStrike">
                <a:solidFill>
                  <a:srgbClr val="14203A"/>
                </a:solidFill>
                <a:effectLst/>
                <a:uFillTx/>
                <a:latin typeface="DejaVu Sans"/>
              </a:rPr>
              <a:t>recovery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504000" y="1638000"/>
            <a:ext cx="9108000" cy="306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576000" y="1666800"/>
            <a:ext cx="3240000" cy="286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1 -&gt; 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3960000" y="1666800"/>
            <a:ext cx="1800000" cy="286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400" b="0" u="none" strike="noStrike">
                <a:solidFill>
                  <a:srgbClr val="667080"/>
                </a:solidFill>
                <a:effectLst/>
                <a:uFillTx/>
                <a:latin typeface="DejaVu Sans Mono"/>
              </a:rPr>
              <a:t>0.00141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5940000" y="1666800"/>
            <a:ext cx="1800000" cy="286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0.00110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7920000" y="1666800"/>
            <a:ext cx="1620000" cy="286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4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77.8%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504000" y="1980000"/>
            <a:ext cx="9108000" cy="306000"/>
          </a:xfrm>
          <a:prstGeom prst="rect">
            <a:avLst/>
          </a:prstGeom>
          <a:solidFill>
            <a:srgbClr val="22324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576000" y="2008800"/>
            <a:ext cx="3240000" cy="286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1 -&gt; 10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3960000" y="2008800"/>
            <a:ext cx="1800000" cy="286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400" b="0" u="none" strike="noStrike">
                <a:solidFill>
                  <a:srgbClr val="667080"/>
                </a:solidFill>
                <a:effectLst/>
                <a:uFillTx/>
                <a:latin typeface="DejaVu Sans Mono"/>
              </a:rPr>
              <a:t>0.00141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5940000" y="2008800"/>
            <a:ext cx="1800000" cy="286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0.00220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7920000" y="2008800"/>
            <a:ext cx="1620000" cy="286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4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155.5%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504000" y="2322000"/>
            <a:ext cx="9108000" cy="306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576000" y="2350800"/>
            <a:ext cx="3240000" cy="286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1 -&gt; 20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3960000" y="2350800"/>
            <a:ext cx="1800000" cy="286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400" b="0" u="none" strike="noStrike">
                <a:solidFill>
                  <a:srgbClr val="667080"/>
                </a:solidFill>
                <a:effectLst/>
                <a:uFillTx/>
                <a:latin typeface="DejaVu Sans Mono"/>
              </a:rPr>
              <a:t>0.00141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5940000" y="2350800"/>
            <a:ext cx="1800000" cy="286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0.00440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7920000" y="2350800"/>
            <a:ext cx="1620000" cy="286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4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311.1%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504000" y="2664000"/>
            <a:ext cx="9108000" cy="306000"/>
          </a:xfrm>
          <a:prstGeom prst="rect">
            <a:avLst/>
          </a:prstGeom>
          <a:solidFill>
            <a:srgbClr val="22324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576000" y="2692800"/>
            <a:ext cx="3240000" cy="286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1 -&gt; 50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3960000" y="2692800"/>
            <a:ext cx="1800000" cy="286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400" b="0" u="none" strike="noStrike">
                <a:solidFill>
                  <a:srgbClr val="667080"/>
                </a:solidFill>
                <a:effectLst/>
                <a:uFillTx/>
                <a:latin typeface="DejaVu Sans Mono"/>
              </a:rPr>
              <a:t>0.00141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5940000" y="2692800"/>
            <a:ext cx="1800000" cy="286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0.01100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7920000" y="2692800"/>
            <a:ext cx="1620000" cy="286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4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777.7%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504000" y="3006000"/>
            <a:ext cx="9108000" cy="306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576000" y="3034800"/>
            <a:ext cx="3240000" cy="286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0.01 -&gt; 0.05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3960000" y="3034800"/>
            <a:ext cx="1800000" cy="286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400" b="0" u="none" strike="noStrike">
                <a:solidFill>
                  <a:srgbClr val="667080"/>
                </a:solidFill>
                <a:effectLst/>
                <a:uFillTx/>
                <a:latin typeface="DejaVu Sans Mono"/>
              </a:rPr>
              <a:t>0.00001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5940000" y="3034800"/>
            <a:ext cx="1800000" cy="286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0.00001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7920000" y="3034800"/>
            <a:ext cx="1620000" cy="286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4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77.8%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504000" y="3348000"/>
            <a:ext cx="9108000" cy="306000"/>
          </a:xfrm>
          <a:prstGeom prst="rect">
            <a:avLst/>
          </a:prstGeom>
          <a:solidFill>
            <a:srgbClr val="22324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576000" y="3376800"/>
            <a:ext cx="3240000" cy="286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0.005 -&gt; 0.2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3960000" y="3376800"/>
            <a:ext cx="1800000" cy="286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400" b="0" u="none" strike="noStrike">
                <a:solidFill>
                  <a:srgbClr val="667080"/>
                </a:solidFill>
                <a:effectLst/>
                <a:uFillTx/>
                <a:latin typeface="DejaVu Sans Mono"/>
              </a:rPr>
              <a:t>0.00001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5940000" y="3376800"/>
            <a:ext cx="1800000" cy="286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0.00004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7920000" y="3376800"/>
            <a:ext cx="1620000" cy="286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4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622.2%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540000" y="3798000"/>
            <a:ext cx="9180000" cy="68148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Breakeven ~6.4x price ratio. L1 off-peak -&gt; congestion works; flat-fee L2s correctly see the organ idle.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The refund is a 20% toll on every big transaction's gas bill while the mechanism lives - priced as a decaying option, banked by rent.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540000" y="252000"/>
            <a:ext cx="9180000" cy="5418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2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What the giants run on (2026 survey)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504000" y="864000"/>
            <a:ext cx="9108000" cy="666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612000" y="918000"/>
            <a:ext cx="1872000" cy="5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5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Uniswap v4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2592000" y="910800"/>
            <a:ext cx="6948000" cy="57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$338B volume, 23k HOOKS - third-party extension contracts; Uniswap shipped a hook SECURITY FRAMEWORK because hooks keep breaking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504000" y="1566000"/>
            <a:ext cx="9108000" cy="666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612000" y="1620000"/>
            <a:ext cx="1872000" cy="5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5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Aave / Compound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2592000" y="1612800"/>
            <a:ext cx="6948000" cy="57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money markets running on liquidators, keepers and credit delegates - work done by OTHER people's bots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504000" y="2268000"/>
            <a:ext cx="9108000" cy="666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612000" y="2322000"/>
            <a:ext cx="1872000" cy="5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5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Chainlink / Gelato / Keep3r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2592000" y="2314800"/>
            <a:ext cx="6948000" cy="57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the keeper economy: an entire market paying strangers to trigger contracts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504000" y="2970000"/>
            <a:ext cx="9108000" cy="666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612000" y="3024000"/>
            <a:ext cx="1872000" cy="5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5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ENS / ERC-8004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2592000" y="3016800"/>
            <a:ext cx="6948000" cy="57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identity + agent registries: 10k+ AI agents registered in months, discovering each other by on-chain handle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504000" y="3672000"/>
            <a:ext cx="9108000" cy="666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612000" y="3726000"/>
            <a:ext cx="1872000" cy="5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5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Lido / Morpho / 4626 vaults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2592000" y="3718800"/>
            <a:ext cx="6948000" cy="57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yield infrastructure now speaks one standard interface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504000" y="4374000"/>
            <a:ext cx="9108000" cy="666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612000" y="4428000"/>
            <a:ext cx="1872000" cy="5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5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Safe / DAO treasuries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2592000" y="4420800"/>
            <a:ext cx="6948000" cy="57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millions in small treasuries that nobody polices 24/7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540000" y="5166000"/>
            <a:ext cx="9180000" cy="32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Every one of these needs the same thing: strangers who reliably DO the boring work, paid on execution.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540000" y="252000"/>
            <a:ext cx="9180000" cy="4838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8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The cellular fit: serve the giants, don't fight them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504000" y="828000"/>
            <a:ext cx="9108000" cy="738000"/>
          </a:xfrm>
          <a:prstGeom prst="rect">
            <a:avLst/>
          </a:prstGeom>
          <a:solidFill>
            <a:srgbClr val="1E2C47"/>
          </a:solidFill>
          <a:ln w="21600">
            <a:solidFill>
              <a:srgbClr val="2E8B57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612000" y="882000"/>
            <a:ext cx="1656000" cy="61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Keeper economy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2376000" y="874800"/>
            <a:ext cx="7164000" cy="64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our pay-the-trigger-from-your-own-food primitive IS the Gelato/Keep3r model, native - cells pay keepers to run them; fat cells double the pay when gas is dear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504000" y="1602000"/>
            <a:ext cx="9108000" cy="738000"/>
          </a:xfrm>
          <a:prstGeom prst="rect">
            <a:avLst/>
          </a:prstGeom>
          <a:solidFill>
            <a:srgbClr val="1E2C47"/>
          </a:solidFill>
          <a:ln w="21600">
            <a:solidFill>
              <a:srgbClr val="2E86A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612000" y="1656000"/>
            <a:ext cx="1656000" cy="61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v4 hooks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2376000" y="1648800"/>
            <a:ext cx="7164000" cy="64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tuner-cells &amp; auditor-cells sell hook parameter work via Membrane services; a colony's hook tenants spread blast radius instead of concentrating 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504000" y="2376000"/>
            <a:ext cx="9108000" cy="738000"/>
          </a:xfrm>
          <a:prstGeom prst="rect">
            <a:avLst/>
          </a:prstGeom>
          <a:solidFill>
            <a:srgbClr val="1E2C47"/>
          </a:solidFill>
          <a:ln w="21600">
            <a:solidFill>
              <a:srgbClr val="8E44AD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612000" y="2430000"/>
            <a:ext cx="1656000" cy="61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8E44AD"/>
                </a:solidFill>
                <a:effectLst/>
                <a:uFillTx/>
                <a:latin typeface="DejaVu Sans"/>
              </a:rPr>
              <a:t>Aave edge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2376000" y="2422800"/>
            <a:ext cx="7164000" cy="64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liquidation squads as cells: Golgi payrolls, Adipocyte subsidies, Lysosome cleanup of dead positions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504000" y="3150000"/>
            <a:ext cx="9108000" cy="738000"/>
          </a:xfrm>
          <a:prstGeom prst="rect">
            <a:avLst/>
          </a:prstGeom>
          <a:solidFill>
            <a:srgbClr val="1E2C47"/>
          </a:solidFill>
          <a:ln w="21600">
            <a:solidFill>
              <a:srgbClr val="B8860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612000" y="3204000"/>
            <a:ext cx="1656000" cy="61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8004 / ENS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2376000" y="3196800"/>
            <a:ext cx="7164000" cy="64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cells are discoverable PAID services to the agent economy (registration surface shipped in v2.2)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504000" y="3924000"/>
            <a:ext cx="9108000" cy="738000"/>
          </a:xfrm>
          <a:prstGeom prst="rect">
            <a:avLst/>
          </a:prstGeom>
          <a:solidFill>
            <a:srgbClr val="1E2C47"/>
          </a:solidFill>
          <a:ln w="21600">
            <a:solidFill>
              <a:srgbClr val="4ECDC4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612000" y="3978000"/>
            <a:ext cx="1656000" cy="61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4ECDC4"/>
                </a:solidFill>
                <a:effectLst/>
                <a:uFillTx/>
                <a:latin typeface="DejaVu Sans"/>
              </a:rPr>
              <a:t>Micro-treasuries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2376000" y="3970800"/>
            <a:ext cx="7164000" cy="64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a cell already IS a Safe that runs itself: registry-gated organs + metabolic cycles; Safe users are customers, not competitors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540000" y="4770000"/>
            <a:ext cx="918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C0392B"/>
                </a:solidFill>
                <a:effectLst/>
                <a:uFillTx/>
                <a:latin typeface="DejaVu Sans"/>
              </a:rPr>
              <a:t>Refusals (from the audit): no mixers, no MEV/frontrunning, no stablecoin issuance. Infrastructure income only.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540000" y="252000"/>
            <a:ext cx="9180000" cy="49896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9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Why a swarm beats a monolith (the biology that pays)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540000" y="864000"/>
            <a:ext cx="9180000" cy="345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7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N-VERSION DIVERSITY: 1,000 cells with different operators, venues, grafts and chains fail INDEPENDENTLY. One mega-bot fails every user at once.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GRACEFUL DEGRADATION: the expression cycle's per-organ gas stipend + OrganFailed containment means a broken organ is a bruise, not a death (A4-proven).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SWARM ECONOMICS: each cell is a small profit-and-loss unit; bad strategies starve (they burn credits without income), good ones replicate. Selection pressure - the thing monoliths never have.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UPGRADE ISOLATION: template swap = speciation; a bad template kills one lineage, not the ecosystem.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WHAT WE DO NOT CLAIM: cells do not out-PERFORM monoliths on latency or depth. They out-SURVIVE them, and rent that resilience to the monoliths' users at the edge.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540000" y="252000"/>
            <a:ext cx="9180000" cy="56736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4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Status &amp; next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540000" y="864000"/>
            <a:ext cx="9180000" cy="244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Merge order: #18 (v2.0) -&gt; #23 (v2.1) -&gt; #28 (v2.2 audit) -&gt; #31 (v2.3 fat+services). All OPEN for you; none self-merged.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85 tests passing, incl. a canary that will SCREAM when EIP-3298 deletes the clearing refund (first render-band assertion fails = blubber expired; rent keeps earning).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Then: Base Sepolia deployment, Ownable2Step, slither + forge-invariant fuzz pass, ERC-4337/7702 keeper spike, real ERC-4626 venue adapter.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504000" y="4140000"/>
            <a:ext cx="9108000" cy="1152000"/>
          </a:xfrm>
          <a:prstGeom prst="rect">
            <a:avLst/>
          </a:prstGeom>
          <a:solidFill>
            <a:srgbClr val="1E2C47"/>
          </a:solidFill>
          <a:ln w="21600">
            <a:solidFill>
              <a:srgbClr val="B8860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612000" y="4212000"/>
            <a:ext cx="8928000" cy="100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Artifacts: issues #29-#30, PR #31 w/ 6-point inline review, AUDIT.md addendum C1-C6, DESIGN.md 6a/6b, fat-study.json, this deck (docs/, 4th of a series).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The organism can now hoard energy like fat, work like a service provider, and fail like a forest instead of like a server.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2026-10-17T11:45:58Z</dcterms:modified>
  <cp:revision>1</cp:revision>
  <dc:subject/>
  <dc:title/>
</cp:coreProperties>
</file>