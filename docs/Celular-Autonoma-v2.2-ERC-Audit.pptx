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DF5E9C-7EF7-43EE-9CF3-B9BDA3A1E0C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3E85F6-8956-4F81-8929-E0487E41CF2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D659B11-D46D-4D7E-8010-88EECEEF8B3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14203A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540000" y="1296000"/>
            <a:ext cx="9000000" cy="93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50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CELULAR AUTONOMA  v2.2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558000" y="2304000"/>
            <a:ext cx="9000000" cy="50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2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ERCs, defenses, and a full-system security audit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558000" y="2952000"/>
            <a:ext cx="9000000" cy="72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600" b="0" u="none" strike="noStrike">
                <a:solidFill>
                  <a:srgbClr val="667080"/>
                </a:solidFill>
                <a:effectLst/>
                <a:uFillTx/>
                <a:latin typeface="DejaVu Sans"/>
              </a:rPr>
              <a:t>Every public ERC/EIP that touches an autonomous cell: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667080"/>
                </a:solidFill>
                <a:effectLst/>
                <a:uFillTx/>
                <a:latin typeface="DejaVu Sans"/>
              </a:rPr>
              <a:t>adopt what helps - reject what hurts - prove the rest.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558000" y="4896000"/>
            <a:ext cx="9000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2E8B57"/>
                </a:solidFill>
                <a:effectLst/>
                <a:uFillTx/>
                <a:latin typeface="DejaVu Sans"/>
              </a:rPr>
              <a:t>79 tests passing  -  issues #24-#27  -  PR #28 (stacked)  -  AUDIT.md findings register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14203A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540000" y="288000"/>
            <a:ext cx="9180000" cy="56736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34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How the audit was run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540000" y="936000"/>
            <a:ext cx="9180000" cy="360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SCOPE: 14 production contracts - v2.0 core trio + Colony, v2.1 organ cast (7 + base), interfaces.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METHOD: line-by-line manual review of every state-changing function - authority, CEI ordering, value-flow, revert-mode.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ADVERSARY LENS: stranger EOA - botched graft - MALICIOUS grafted organ - dishonest keeper - hostile colony owner - failing yield venue.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INVARIANTS FIRST: 7 system invariants written down (I1-I7 in AUDIT.md), each mapped to its enforcement point.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EVIDENCE: every finding gets an executable regression (test/v2.2-audit.test.js A1-A11) - findings that cannot be tested are marked as such.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RESULT: 18 findings - 11 fixed in code, 4 documented-accepted, 3 recommendations; 0 unresolved Highs.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14203A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540000" y="252000"/>
            <a:ext cx="9180000" cy="5418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32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Adopted: standards the cell now speaks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540000" y="828000"/>
            <a:ext cx="2988000" cy="3744000"/>
          </a:xfrm>
          <a:prstGeom prst="rect">
            <a:avLst/>
          </a:prstGeom>
          <a:solidFill>
            <a:srgbClr val="1E2C47"/>
          </a:solidFill>
          <a:ln w="21600">
            <a:solidFill>
              <a:srgbClr val="2E86AB"/>
            </a:solidFill>
            <a:round/>
          </a:ln>
        </p:spPr>
        <p:txBody>
          <a:bodyPr lIns="81720" tIns="36720" rIns="81720" bIns="367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630000" y="936000"/>
            <a:ext cx="2808000" cy="45612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6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ERC-165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630000" y="1440000"/>
            <a:ext cx="2808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300" b="0" u="none" strike="noStrike">
                <a:solidFill>
                  <a:srgbClr val="667080"/>
                </a:solidFill>
                <a:effectLst/>
                <a:uFillTx/>
                <a:latin typeface="DejaVu Sans"/>
              </a:rPr>
              <a:t>interface detection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630000" y="1836000"/>
            <a:ext cx="2808000" cy="259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The Nucleus registry REFUSES a WORKER graft that can't declare IWorker; the Membrane refuses a shield that can't speak screen(). Graft-time proof replaces runtime guessing.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3672000" y="828000"/>
            <a:ext cx="2988000" cy="3744000"/>
          </a:xfrm>
          <a:prstGeom prst="rect">
            <a:avLst/>
          </a:prstGeom>
          <a:solidFill>
            <a:srgbClr val="1E2C47"/>
          </a:solidFill>
          <a:ln w="21600">
            <a:solidFill>
              <a:srgbClr val="8E44AD"/>
            </a:solidFill>
            <a:round/>
          </a:ln>
        </p:spPr>
        <p:txBody>
          <a:bodyPr lIns="81720" tIns="36720" rIns="81720" bIns="367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3762000" y="936000"/>
            <a:ext cx="2808000" cy="45612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600" b="0" u="none" strike="noStrike">
                <a:solidFill>
                  <a:srgbClr val="8E44AD"/>
                </a:solidFill>
                <a:effectLst/>
                <a:uFillTx/>
                <a:latin typeface="DejaVu Sans"/>
              </a:rPr>
              <a:t>ERC-4626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3762000" y="1440000"/>
            <a:ext cx="2808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300" b="0" u="none" strike="noStrike">
                <a:solidFill>
                  <a:srgbClr val="667080"/>
                </a:solidFill>
                <a:effectLst/>
                <a:uFillTx/>
                <a:latin typeface="DejaVu Sans"/>
              </a:rPr>
              <a:t>yield vaults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3762000" y="1836000"/>
            <a:ext cx="2808000" cy="259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The Mitochondrion speaks the standard vault interface (deposit/withdraw/preview/max*). Aave, Morpho, LST wrappers become drop-in respiratory substrates - no bespoke venue surface to trust.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6804000" y="828000"/>
            <a:ext cx="2988000" cy="3744000"/>
          </a:xfrm>
          <a:prstGeom prst="rect">
            <a:avLst/>
          </a:prstGeom>
          <a:solidFill>
            <a:srgbClr val="1E2C47"/>
          </a:solidFill>
          <a:ln w="21600">
            <a:solidFill>
              <a:srgbClr val="2E8B57"/>
            </a:solidFill>
            <a:round/>
          </a:ln>
        </p:spPr>
        <p:txBody>
          <a:bodyPr lIns="81720" tIns="36720" rIns="81720" bIns="367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6894000" y="936000"/>
            <a:ext cx="2808000" cy="45612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600" b="0" u="none" strike="noStrike">
                <a:solidFill>
                  <a:srgbClr val="2E8B57"/>
                </a:solidFill>
                <a:effectLst/>
                <a:uFillTx/>
                <a:latin typeface="DejaVu Sans"/>
              </a:rPr>
              <a:t>ERC-8004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6894000" y="1440000"/>
            <a:ext cx="2808000" cy="288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300" b="0" u="none" strike="noStrike">
                <a:solidFill>
                  <a:srgbClr val="667080"/>
                </a:solidFill>
                <a:effectLst/>
                <a:uFillTx/>
                <a:latin typeface="DejaVu Sans"/>
              </a:rPr>
              <a:t>trustless agents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6894000" y="1836000"/>
            <a:ext cx="2808000" cy="259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Membrane carries the discovery fields the (Jan-2026 mainnet-live) agent registries point at: agentName, registrationURI. Cells show up on the agents' menu without building any registry.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540000" y="4860000"/>
            <a:ext cx="9180000" cy="48348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B8860B"/>
                </a:solidFill>
                <a:effectLst/>
                <a:uFillTx/>
                <a:latin typeface="DejaVu Sans"/>
              </a:rPr>
              <a:t>Bonus behavior: EIP-6780 verified - apoptosis never relied on selfdestruct. EIP-150 63/64 rule priced into the keeper gas budget since v2.1.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14203A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540000" y="252000"/>
            <a:ext cx="9180000" cy="51264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30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Defended against: what public ERCs would do to us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504000" y="864000"/>
            <a:ext cx="9108000" cy="972000"/>
          </a:xfrm>
          <a:prstGeom prst="rect">
            <a:avLst/>
          </a:prstGeom>
          <a:solidFill>
            <a:srgbClr val="1E2C47"/>
          </a:solidFill>
          <a:ln w="21600">
            <a:solidFill>
              <a:srgbClr val="C0392B"/>
            </a:solidFill>
            <a:round/>
          </a:ln>
        </p:spPr>
        <p:txBody>
          <a:bodyPr lIns="81720" tIns="36720" rIns="81720" bIns="367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612000" y="918000"/>
            <a:ext cx="1548000" cy="86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700" b="0" u="none" strike="noStrike">
                <a:solidFill>
                  <a:srgbClr val="C0392B"/>
                </a:solidFill>
                <a:effectLst/>
                <a:uFillTx/>
                <a:latin typeface="DejaVu Sans"/>
              </a:rPr>
              <a:t>ERC-20 as food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2232000" y="910800"/>
            <a:ext cx="7344000" cy="90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REJECTED. Fee-on-transfer breaks the per-payer ledger; rebasing breaks cost-basis math (the 4626-on-rebasing-asset incident class); honeypots weaponize approvals. The larder is native ETH only - there is deliberately no token deposit path. Token yield enters ONLY through a 4626 venue.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504000" y="1908000"/>
            <a:ext cx="9108000" cy="972000"/>
          </a:xfrm>
          <a:prstGeom prst="rect">
            <a:avLst/>
          </a:prstGeom>
          <a:solidFill>
            <a:srgbClr val="1E2C47"/>
          </a:solidFill>
          <a:ln w="21600">
            <a:solidFill>
              <a:srgbClr val="C0392B"/>
            </a:solidFill>
            <a:round/>
          </a:ln>
        </p:spPr>
        <p:txBody>
          <a:bodyPr lIns="81720" tIns="36720" rIns="81720" bIns="367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612000" y="1962000"/>
            <a:ext cx="1548000" cy="86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700" b="0" u="none" strike="noStrike">
                <a:solidFill>
                  <a:srgbClr val="C0392B"/>
                </a:solidFill>
                <a:effectLst/>
                <a:uFillTx/>
                <a:latin typeface="DejaVu Sans"/>
              </a:rPr>
              <a:t>ERC-721 / 1155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2232000" y="1954800"/>
            <a:ext cx="7344000" cy="90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ABSENT BY DESIGN. onERC721Received/onERC1155Received are reentrancy doors; the audit verified zero token-callback implementations in the system. Future NFT organs must gate callbacks.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504000" y="2952000"/>
            <a:ext cx="9108000" cy="972000"/>
          </a:xfrm>
          <a:prstGeom prst="rect">
            <a:avLst/>
          </a:prstGeom>
          <a:solidFill>
            <a:srgbClr val="1E2C47"/>
          </a:solidFill>
          <a:ln w="21600">
            <a:solidFill>
              <a:srgbClr val="B8860B"/>
            </a:solidFill>
            <a:round/>
          </a:ln>
        </p:spPr>
        <p:txBody>
          <a:bodyPr lIns="81720" tIns="36720" rIns="81720" bIns="367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612000" y="3006000"/>
            <a:ext cx="1548000" cy="86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700" b="0" u="none" strike="noStrike">
                <a:solidFill>
                  <a:srgbClr val="B8860B"/>
                </a:solidFill>
                <a:effectLst/>
                <a:uFillTx/>
                <a:latin typeface="DejaVu Sans"/>
              </a:rPr>
              <a:t>4626 inflation attack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2232000" y="2998800"/>
            <a:ext cx="7344000" cy="90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DEFENDED. First-depositor donation-skew steals later deposits unless countered; our standard-compliant mock carries OZ-style virtual shares AND virtual assets - regression A11 proves: attacker donates 10 ETH, recovers ~0.01; victim loses &lt;1%.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504000" y="3996000"/>
            <a:ext cx="9108000" cy="972000"/>
          </a:xfrm>
          <a:prstGeom prst="rect">
            <a:avLst/>
          </a:prstGeom>
          <a:solidFill>
            <a:srgbClr val="1E2C47"/>
          </a:solidFill>
          <a:ln w="21600">
            <a:solidFill>
              <a:srgbClr val="2E8B57"/>
            </a:solidFill>
            <a:round/>
          </a:ln>
        </p:spPr>
        <p:txBody>
          <a:bodyPr lIns="81720" tIns="36720" rIns="81720" bIns="367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612000" y="4050000"/>
            <a:ext cx="1548000" cy="86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700" b="0" u="none" strike="noStrike">
                <a:solidFill>
                  <a:srgbClr val="2E8B57"/>
                </a:solidFill>
                <a:effectLst/>
                <a:uFillTx/>
                <a:latin typeface="DejaVu Sans"/>
              </a:rPr>
              <a:t>Approval tokens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2232000" y="4042800"/>
            <a:ext cx="7344000" cy="90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N/A SAFE. The cell never places ERC-20 approvals - there is no allowance surface to abuse; a compromised organ can only move the cycle budget it was granted.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14203A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540000" y="252000"/>
            <a:ext cx="9180000" cy="85212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7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Account abstraction: the autonomy end-game (aligned, not yet wired)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540000" y="828000"/>
            <a:ext cx="9180000" cy="381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75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EIP-7702 (live since Pectra, May 2025): an EOA-shaped cell handle that runs real contract code at the same address.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5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ERC-4337 EntryPoint v0.9 (Nov 2025): bundlers submit the cell's intent; PAYMASTERS spend the cell's own food for gas - keepers need no wallet at all, the ultimate self-funding statement.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5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ERC-7562 canonical validation rules: exactly the discipline our act()/spend() windows already enforce locally (no unbounded state growth in validation paths).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5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ERC-7579 / ERC-6900 modular accounts: our WORKER + graftTemplate design IS a module system - mapping organs onto 7579 module registers is a thin adapter, proof the design generalizes.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5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Audit warning shipped with the plan: a 7702 delegation target is a NEW TRUST ROOT - it must be colony/DAO-governed, never keeper-settable.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5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EIP-712 + ERC-1271: required the moment we accept signed agent intents (8004 registries themselves mandate both) - flagged in AUDIT.md roadmap.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540000" y="4896000"/>
            <a:ext cx="9180000" cy="51084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500" b="0" u="none" strike="noStrike">
                <a:solidFill>
                  <a:srgbClr val="B8860B"/>
                </a:solidFill>
                <a:effectLst/>
                <a:uFillTx/>
                <a:latin typeface="DejaVu Sans"/>
              </a:rPr>
              <a:t>Why not wired in this PR: it needs an L2 deployment target + EntryPoint dependency - next iteration, on Base Sepolia.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14203A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540000" y="252000"/>
            <a:ext cx="9180000" cy="47124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7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Audit findings I: the three Highs (all fixed, all regression-proven)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504000" y="846000"/>
            <a:ext cx="9108000" cy="1224000"/>
          </a:xfrm>
          <a:prstGeom prst="rect">
            <a:avLst/>
          </a:prstGeom>
          <a:solidFill>
            <a:srgbClr val="1E2C47"/>
          </a:solidFill>
          <a:ln w="21600">
            <a:solidFill>
              <a:srgbClr val="C0392B"/>
            </a:solidFill>
            <a:round/>
          </a:ln>
        </p:spPr>
        <p:txBody>
          <a:bodyPr lIns="81720" tIns="36720" rIns="81720" bIns="367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594000" y="900000"/>
            <a:ext cx="540000" cy="3996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200" b="0" u="none" strike="noStrike">
                <a:solidFill>
                  <a:srgbClr val="C0392B"/>
                </a:solidFill>
                <a:effectLst/>
                <a:uFillTx/>
                <a:latin typeface="DejaVu Sans"/>
              </a:rPr>
              <a:t>A1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1152000" y="900000"/>
            <a:ext cx="2124000" cy="108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Silent organs graftable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3384000" y="892800"/>
            <a:ext cx="2916000" cy="115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200" b="0" u="none" strike="noStrike">
                <a:solidFill>
                  <a:srgbClr val="667080"/>
                </a:solidFill>
                <a:effectLst/>
                <a:uFillTx/>
                <a:latin typeface="DejaVu Sans"/>
              </a:rPr>
              <a:t>BUG: registry accepted any WORKER - the cycle would try act() on modules structurally unable to answer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6408000" y="892800"/>
            <a:ext cx="3132000" cy="115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200" b="0" u="none" strike="noStrike">
                <a:solidFill>
                  <a:srgbClr val="2E8B57"/>
                </a:solidFill>
                <a:effectLst/>
                <a:uFillTx/>
                <a:latin typeface="DejaVu Sans"/>
              </a:rPr>
              <a:t>FIX: ERC-165 gate at _register: WORKER must DECLARE IWorker (try/catch probe for clean rejects)   [regression A1]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504000" y="2142000"/>
            <a:ext cx="9108000" cy="1224000"/>
          </a:xfrm>
          <a:prstGeom prst="rect">
            <a:avLst/>
          </a:prstGeom>
          <a:solidFill>
            <a:srgbClr val="1E2C47"/>
          </a:solidFill>
          <a:ln w="21600">
            <a:solidFill>
              <a:srgbClr val="C0392B"/>
            </a:solidFill>
            <a:round/>
          </a:ln>
        </p:spPr>
        <p:txBody>
          <a:bodyPr lIns="81720" tIns="36720" rIns="81720" bIns="367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594000" y="2196000"/>
            <a:ext cx="540000" cy="3996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200" b="0" u="none" strike="noStrike">
                <a:solidFill>
                  <a:srgbClr val="C0392B"/>
                </a:solidFill>
                <a:effectLst/>
                <a:uFillTx/>
                <a:latin typeface="DejaVu Sans"/>
              </a:rPr>
              <a:t>A3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1152000" y="2196000"/>
            <a:ext cx="2124000" cy="108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Clone-init race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3384000" y="2188800"/>
            <a:ext cx="2916000" cy="115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200" b="0" u="none" strike="noStrike">
                <a:solidFill>
                  <a:srgbClr val="667080"/>
                </a:solidFill>
                <a:effectLst/>
                <a:uFillTx/>
                <a:latin typeface="DejaVu Sans"/>
              </a:rPr>
              <a:t>BUG: organelle clones were first-caller-wins: an attacker could pre-bind a clone to a rogue nucleus before the curator's graft installed it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6408000" y="2188800"/>
            <a:ext cx="3132000" cy="115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200" b="0" u="none" strike="noStrike">
                <a:solidFill>
                  <a:srgbClr val="2E8B57"/>
                </a:solidFill>
                <a:effectLst/>
                <a:uFillTx/>
                <a:latin typeface="DejaVu Sans"/>
              </a:rPr>
              <a:t>FIX: initialize() is COLONY-only; graftTemplate does clone+bind+register atomically; no path around   [regression A3]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504000" y="3438000"/>
            <a:ext cx="9108000" cy="1224000"/>
          </a:xfrm>
          <a:prstGeom prst="rect">
            <a:avLst/>
          </a:prstGeom>
          <a:solidFill>
            <a:srgbClr val="1E2C47"/>
          </a:solidFill>
          <a:ln w="21600">
            <a:solidFill>
              <a:srgbClr val="C0392B"/>
            </a:solidFill>
            <a:round/>
          </a:ln>
        </p:spPr>
        <p:txBody>
          <a:bodyPr lIns="81720" tIns="36720" rIns="81720" bIns="367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594000" y="3492000"/>
            <a:ext cx="540000" cy="3996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200" b="0" u="none" strike="noStrike">
                <a:solidFill>
                  <a:srgbClr val="C0392B"/>
                </a:solidFill>
                <a:effectLst/>
                <a:uFillTx/>
                <a:latin typeface="DejaVu Sans"/>
              </a:rPr>
              <a:t>A4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1152000" y="3492000"/>
            <a:ext cx="2124000" cy="108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Cycle gas DoS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3384000" y="3484800"/>
            <a:ext cx="2916000" cy="115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200" b="0" u="none" strike="noStrike">
                <a:solidFill>
                  <a:srgbClr val="667080"/>
                </a:solidFill>
                <a:effectLst/>
                <a:uFillTx/>
                <a:latin typeface="DejaVu Sans"/>
              </a:rPr>
              <a:t>BUG: an organ's act() had no gas bound - one malignant graft could burn the whole block every single express()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6408000" y="3484800"/>
            <a:ext cx="3132000" cy="115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200" b="0" u="none" strike="noStrike">
                <a:solidFill>
                  <a:srgbClr val="2E8B57"/>
                </a:solidFill>
                <a:effectLst/>
                <a:uFillTx/>
                <a:latin typeface="DejaVu Sans"/>
              </a:rPr>
              <a:t>FIX: act{gas: workerGasStipend} + frame-atomic try/catch; default 2M sized to legit worst job   [regression A4]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14203A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540000" y="252000"/>
            <a:ext cx="9180000" cy="51264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30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Audit findings II: the bounded-growth family (M/L)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504000" y="864000"/>
            <a:ext cx="9108000" cy="684000"/>
          </a:xfrm>
          <a:prstGeom prst="rect">
            <a:avLst/>
          </a:prstGeom>
          <a:solidFill>
            <a:srgbClr val="1E2C47"/>
          </a:solidFill>
          <a:ln w="21600">
            <a:solidFill>
              <a:srgbClr val="B8860B"/>
            </a:solidFill>
            <a:round/>
          </a:ln>
        </p:spPr>
        <p:txBody>
          <a:bodyPr lIns="81720" tIns="36720" rIns="81720" bIns="367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612000" y="936000"/>
            <a:ext cx="576000" cy="57204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700" b="0" u="none" strike="noStrike">
                <a:solidFill>
                  <a:srgbClr val="B8860B"/>
                </a:solidFill>
                <a:effectLst/>
                <a:uFillTx/>
                <a:latin typeface="DejaVu Sans"/>
              </a:rPr>
              <a:t>A5/A6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1296000" y="918000"/>
            <a:ext cx="3888000" cy="61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Registry size was unbounded -&gt; every cycle's scans grew with it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5328000" y="918000"/>
            <a:ext cx="4212000" cy="61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300" b="0" u="none" strike="noStrike">
                <a:solidFill>
                  <a:srgbClr val="667080"/>
                </a:solidFill>
                <a:effectLst/>
                <a:uFillTx/>
                <a:latin typeface="DejaVu Sans"/>
              </a:rPr>
              <a:t>cap 24 aux organs; tombstone accounting honest (evict frees slot, re-graft re-spends it)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504000" y="1602000"/>
            <a:ext cx="9108000" cy="684000"/>
          </a:xfrm>
          <a:prstGeom prst="rect">
            <a:avLst/>
          </a:prstGeom>
          <a:solidFill>
            <a:srgbClr val="1E2C47"/>
          </a:solidFill>
          <a:ln w="21600">
            <a:solidFill>
              <a:srgbClr val="B8860B"/>
            </a:solidFill>
            <a:round/>
          </a:ln>
        </p:spPr>
        <p:txBody>
          <a:bodyPr lIns="81720" tIns="36720" rIns="81720" bIns="367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612000" y="1674000"/>
            <a:ext cx="576000" cy="54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700" b="0" u="none" strike="noStrike">
                <a:solidFill>
                  <a:srgbClr val="B8860B"/>
                </a:solidFill>
                <a:effectLst/>
                <a:uFillTx/>
                <a:latin typeface="DejaVu Sans"/>
              </a:rPr>
              <a:t>A7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1296000" y="1656000"/>
            <a:ext cx="3888000" cy="61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Golgi packages array grew forever; full scan every cycle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5328000" y="1656000"/>
            <a:ext cx="4212000" cy="61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300" b="0" u="none" strike="noStrike">
                <a:solidFill>
                  <a:srgbClr val="667080"/>
                </a:solidFill>
                <a:effectLst/>
                <a:uFillTx/>
                <a:latin typeface="DejaVu Sans"/>
              </a:rPr>
              <a:t>64 live-package cap + swap-and-pop pruning (length == live count)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504000" y="2340000"/>
            <a:ext cx="9108000" cy="684000"/>
          </a:xfrm>
          <a:prstGeom prst="rect">
            <a:avLst/>
          </a:prstGeom>
          <a:solidFill>
            <a:srgbClr val="1E2C47"/>
          </a:solidFill>
          <a:ln w="21600">
            <a:solidFill>
              <a:srgbClr val="B8860B"/>
            </a:solidFill>
            <a:round/>
          </a:ln>
        </p:spPr>
        <p:txBody>
          <a:bodyPr lIns="81720" tIns="36720" rIns="81720" bIns="367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612000" y="2412000"/>
            <a:ext cx="576000" cy="54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700" b="0" u="none" strike="noStrike">
                <a:solidFill>
                  <a:srgbClr val="B8860B"/>
                </a:solidFill>
                <a:effectLst/>
                <a:uFillTx/>
                <a:latin typeface="DejaVu Sans"/>
              </a:rPr>
              <a:t>A8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1296000" y="2394000"/>
            <a:ext cx="3888000" cy="61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Peroxisome flagged list unbounded; scan per detoxification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5328000" y="2394000"/>
            <a:ext cx="4212000" cy="61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300" b="0" u="none" strike="noStrike">
                <a:solidFill>
                  <a:srgbClr val="667080"/>
                </a:solidFill>
                <a:effectLst/>
                <a:uFillTx/>
                <a:latin typeface="DejaVu Sans"/>
              </a:rPr>
              <a:t>32-flag cap; saturation DROPS FLAGS, never reverts a permissionless report()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504000" y="3078000"/>
            <a:ext cx="9108000" cy="684000"/>
          </a:xfrm>
          <a:prstGeom prst="rect">
            <a:avLst/>
          </a:prstGeom>
          <a:solidFill>
            <a:srgbClr val="1E2C47"/>
          </a:solidFill>
          <a:ln w="21600">
            <a:solidFill>
              <a:srgbClr val="B8860B"/>
            </a:solidFill>
            <a:round/>
          </a:ln>
        </p:spPr>
        <p:txBody>
          <a:bodyPr lIns="81720" tIns="36720" rIns="81720" bIns="367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612000" y="3150000"/>
            <a:ext cx="576000" cy="54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700" b="0" u="none" strike="noStrike">
                <a:solidFill>
                  <a:srgbClr val="B8860B"/>
                </a:solidFill>
                <a:effectLst/>
                <a:uFillTx/>
                <a:latin typeface="DejaVu Sans"/>
              </a:rPr>
              <a:t>A9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1296000" y="3132000"/>
            <a:ext cx="3888000" cy="61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Ribosome order queue unbounded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5328000" y="3132000"/>
            <a:ext cx="4212000" cy="61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300" b="0" u="none" strike="noStrike">
                <a:solidFill>
                  <a:srgbClr val="667080"/>
                </a:solidFill>
                <a:effectLst/>
                <a:uFillTx/>
                <a:latin typeface="DejaVu Sans"/>
              </a:rPr>
              <a:t>32-pending cap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504000" y="3816000"/>
            <a:ext cx="9108000" cy="684000"/>
          </a:xfrm>
          <a:prstGeom prst="rect">
            <a:avLst/>
          </a:prstGeom>
          <a:solidFill>
            <a:srgbClr val="1E2C47"/>
          </a:solidFill>
          <a:ln w="21600">
            <a:solidFill>
              <a:srgbClr val="B8860B"/>
            </a:solidFill>
            <a:round/>
          </a:ln>
        </p:spPr>
        <p:txBody>
          <a:bodyPr lIns="81720" tIns="36720" rIns="81720" bIns="367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612000" y="3888000"/>
            <a:ext cx="576000" cy="54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700" b="0" u="none" strike="noStrike">
                <a:solidFill>
                  <a:srgbClr val="B8860B"/>
                </a:solidFill>
                <a:effectLst/>
                <a:uFillTx/>
                <a:latin typeface="DejaVu Sans"/>
              </a:rPr>
              <a:t>A10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1296000" y="3870000"/>
            <a:ext cx="3888000" cy="61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Keeper aging list grew per distinct keeper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5328000" y="3870000"/>
            <a:ext cx="4212000" cy="61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300" b="0" u="none" strike="noStrike">
                <a:solidFill>
                  <a:srgbClr val="667080"/>
                </a:solidFill>
                <a:effectLst/>
                <a:uFillTx/>
                <a:latin typeface="DejaVu Sans"/>
              </a:rPr>
              <a:t>cap 512; past it, credits stay payable FOREVER (fails safe toward keepers, never seizes)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540000" y="4608000"/>
            <a:ext cx="9180000" cy="48348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400" b="0" u="none" strike="noStrike">
                <a:solidFill>
                  <a:srgbClr val="667080"/>
                </a:solidFill>
                <a:effectLst/>
                <a:uFillTx/>
                <a:latin typeface="DejaVu Sans"/>
              </a:rPr>
              <a:t>Accepted-risk notes (B2-B7) + recommendations (Ownable2Step, slither/forge fuzz pass, adapter audit) live in AUDIT.md §2/§6.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14203A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540000" y="252000"/>
            <a:ext cx="9180000" cy="56736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34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Three lessons the audit earned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540000" y="864000"/>
            <a:ext cx="9180000" cy="43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200" b="0" u="none" strike="noStrike">
                <a:solidFill>
                  <a:srgbClr val="B8860B"/>
                </a:solidFill>
                <a:effectLst/>
                <a:uFillTx/>
                <a:latin typeface="DejaVu Sans"/>
              </a:rPr>
              <a:t>1.  CAPS MUST FAIL TOWARD THE USER.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648000" y="1188000"/>
            <a:ext cx="9000000" cy="72108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The keeper-list cap chose: past 512 entries, forfeiture STOPS (credits stay payable forever) - the bounded version can only do less harm, never more. A cap that silently forfeited newcomers would be a fund-loss bug wearing a gas-fix costume.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540000" y="1944000"/>
            <a:ext cx="9180000" cy="43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200" b="0" u="none" strike="noStrike">
                <a:solidFill>
                  <a:srgbClr val="B8860B"/>
                </a:solidFill>
                <a:effectLst/>
                <a:uFillTx/>
                <a:latin typeface="DejaVu Sans"/>
              </a:rPr>
              <a:t>2.  ROUNDING IS AN ORACLE.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648000" y="2268000"/>
            <a:ext cx="9000000" cy="93132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v2.2's first 4626 draft reduced cost basis proportional to shares redeemed - which silently RE-DERIVED phantom yield after every harvest and would have over-withdrawn funds belonging to other depositors. The shipped invariant (yield == staked - principal, exact in asset space) is simpler AND provable. Native-ETH vaults must also price shares BEFORE counting the inflow (B1) - preview vs deposit now match.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540000" y="3276000"/>
            <a:ext cx="9180000" cy="432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200" b="0" u="none" strike="noStrike">
                <a:solidFill>
                  <a:srgbClr val="B8860B"/>
                </a:solidFill>
                <a:effectLst/>
                <a:uFillTx/>
                <a:latin typeface="DejaVu Sans"/>
              </a:rPr>
              <a:t>3.  BOUNDS INTERACT - TUNE THEM TOGETHER.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648000" y="3600000"/>
            <a:ext cx="9000000" cy="57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Worst-case cycle gas is now aux-cap x stipend (24 x 2M = ~48M): shrink one knob below the other's needs and an organ quietly becomes OrganFailed forever. The docs pair them; the deck pairs them; the monitor should too.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14203A"/>
          </a:solidFill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540000" y="252000"/>
            <a:ext cx="9180000" cy="56736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34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Results &amp; the honest ledger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540000" y="828000"/>
            <a:ext cx="2124000" cy="1080000"/>
          </a:xfrm>
          <a:prstGeom prst="rect">
            <a:avLst/>
          </a:prstGeom>
          <a:solidFill>
            <a:srgbClr val="1E2C47"/>
          </a:solidFill>
          <a:ln w="21600">
            <a:solidFill>
              <a:srgbClr val="2E8B57"/>
            </a:solidFill>
            <a:round/>
          </a:ln>
        </p:spPr>
        <p:txBody>
          <a:bodyPr lIns="81720" tIns="36720" rIns="81720" bIns="367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540000" y="900000"/>
            <a:ext cx="2124000" cy="65268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spcAft>
                <a:spcPts val="17"/>
              </a:spcAft>
            </a:pPr>
            <a:r>
              <a:rPr lang="en-US" sz="4000" b="0" u="none" strike="noStrike">
                <a:solidFill>
                  <a:srgbClr val="2E8B57"/>
                </a:solidFill>
                <a:effectLst/>
                <a:uFillTx/>
                <a:latin typeface="DejaVu Sans"/>
              </a:rPr>
              <a:t>79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612000" y="1512000"/>
            <a:ext cx="1980000" cy="32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spcAft>
                <a:spcPts val="17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tests passing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2880000" y="828000"/>
            <a:ext cx="2124000" cy="1080000"/>
          </a:xfrm>
          <a:prstGeom prst="rect">
            <a:avLst/>
          </a:prstGeom>
          <a:solidFill>
            <a:srgbClr val="1E2C47"/>
          </a:solidFill>
          <a:ln w="21600">
            <a:solidFill>
              <a:srgbClr val="B8860B"/>
            </a:solidFill>
            <a:round/>
          </a:ln>
        </p:spPr>
        <p:txBody>
          <a:bodyPr lIns="81720" tIns="36720" rIns="81720" bIns="367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2880000" y="900000"/>
            <a:ext cx="2124000" cy="65268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spcAft>
                <a:spcPts val="17"/>
              </a:spcAft>
            </a:pPr>
            <a:r>
              <a:rPr lang="en-US" sz="4000" b="0" u="none" strike="noStrike">
                <a:solidFill>
                  <a:srgbClr val="B8860B"/>
                </a:solidFill>
                <a:effectLst/>
                <a:uFillTx/>
                <a:latin typeface="DejaVu Sans"/>
              </a:rPr>
              <a:t>18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2952000" y="1512000"/>
            <a:ext cx="1980000" cy="32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spcAft>
                <a:spcPts val="17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audit findings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5220000" y="828000"/>
            <a:ext cx="2124000" cy="1080000"/>
          </a:xfrm>
          <a:prstGeom prst="rect">
            <a:avLst/>
          </a:prstGeom>
          <a:solidFill>
            <a:srgbClr val="1E2C47"/>
          </a:solidFill>
          <a:ln w="21600">
            <a:solidFill>
              <a:srgbClr val="2E86AB"/>
            </a:solidFill>
            <a:round/>
          </a:ln>
        </p:spPr>
        <p:txBody>
          <a:bodyPr lIns="81720" tIns="36720" rIns="81720" bIns="367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5220000" y="900000"/>
            <a:ext cx="2124000" cy="65268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spcAft>
                <a:spcPts val="17"/>
              </a:spcAft>
            </a:pPr>
            <a:r>
              <a:rPr lang="en-US" sz="4000" b="0" u="none" strike="noStrike">
                <a:solidFill>
                  <a:srgbClr val="2E86AB"/>
                </a:solidFill>
                <a:effectLst/>
                <a:uFillTx/>
                <a:latin typeface="DejaVu Sans"/>
              </a:rPr>
              <a:t>11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5292000" y="1512000"/>
            <a:ext cx="1980000" cy="32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spcAft>
                <a:spcPts val="17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fixed in code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7560000" y="828000"/>
            <a:ext cx="2124000" cy="1080000"/>
          </a:xfrm>
          <a:prstGeom prst="rect">
            <a:avLst/>
          </a:prstGeom>
          <a:solidFill>
            <a:srgbClr val="1E2C47"/>
          </a:solidFill>
          <a:ln w="21600">
            <a:solidFill>
              <a:srgbClr val="C0392B"/>
            </a:solidFill>
            <a:round/>
          </a:ln>
        </p:spPr>
        <p:txBody>
          <a:bodyPr lIns="81720" tIns="36720" rIns="81720" bIns="36720" anchor="ctr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7560000" y="900000"/>
            <a:ext cx="2124000" cy="65268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spcAft>
                <a:spcPts val="17"/>
              </a:spcAft>
            </a:pPr>
            <a:r>
              <a:rPr lang="en-US" sz="4000" b="0" u="none" strike="noStrike">
                <a:solidFill>
                  <a:srgbClr val="C0392B"/>
                </a:solidFill>
                <a:effectLst/>
                <a:uFillTx/>
                <a:latin typeface="DejaVu Sans"/>
              </a:rPr>
              <a:t>0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7632000" y="1512000"/>
            <a:ext cx="1980000" cy="324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 algn="ctr">
              <a:spcAft>
                <a:spcPts val="17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open Highs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540000" y="2124000"/>
            <a:ext cx="9180000" cy="36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Still accepted risk (documented, not fixed):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540000" y="2484000"/>
            <a:ext cx="9180000" cy="216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55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B2: harvest recipient is owner-set full-gas ETH - malicious only if the owner attacks itself; pull-payments listed as the hardening path.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5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B3: administer = owner config power over a cell's own organs - consistent with the owner's pre-existing full capital authority; governance organ is the replacement.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5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-  B4: digest-vs-claim race is TTL-gated (30d default) - raise TTL where keepers are slow.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540000" y="4860000"/>
            <a:ext cx="9180000" cy="51084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500" b="0" u="none" strike="noStrike">
                <a:solidFill>
                  <a:srgbClr val="B8860B"/>
                </a:solidFill>
                <a:effectLst/>
                <a:uFillTx/>
                <a:latin typeface="DejaVu Sans"/>
              </a:rPr>
              <a:t>Next: Ownable2Step, slither + forge-invariant fuzz campaign, ERC-4337/7702 spike on Base Sepolia, then the first REAL venue adapter (audited as its own component).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LibreOffice/26.8.0.3$Linux_X86_64 LibreOffice_project/680$Build-3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2026-10-17T10:12:03Z</dcterms:modified>
  <cp:revision>1</cp:revision>
  <dc:subject/>
  <dc:title/>
</cp:coreProperties>
</file>